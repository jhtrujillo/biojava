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8" r:id="rId2"/>
    <p:sldMasterId id="2147483733" r:id="rId3"/>
    <p:sldMasterId id="2147483731" r:id="rId4"/>
    <p:sldMasterId id="2147483748" r:id="rId5"/>
    <p:sldMasterId id="2147483718" r:id="rId6"/>
    <p:sldMasterId id="2147483726" r:id="rId7"/>
    <p:sldMasterId id="2147483692" r:id="rId8"/>
    <p:sldMasterId id="2147483716" r:id="rId9"/>
  </p:sldMasterIdLst>
  <p:notesMasterIdLst>
    <p:notesMasterId r:id="rId19"/>
  </p:notesMasterIdLst>
  <p:handoutMasterIdLst>
    <p:handoutMasterId r:id="rId20"/>
  </p:handoutMasterIdLst>
  <p:sldIdLst>
    <p:sldId id="261" r:id="rId10"/>
    <p:sldId id="2076139445" r:id="rId11"/>
    <p:sldId id="2076139488" r:id="rId12"/>
    <p:sldId id="2076139487" r:id="rId13"/>
    <p:sldId id="2076139489" r:id="rId14"/>
    <p:sldId id="2076139490" r:id="rId15"/>
    <p:sldId id="2076139486" r:id="rId16"/>
    <p:sldId id="2076139483" r:id="rId17"/>
    <p:sldId id="20761394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CAB9CA"/>
    <a:srgbClr val="F2F2F2"/>
    <a:srgbClr val="6A3D9A"/>
    <a:srgbClr val="00160F"/>
    <a:srgbClr val="5B9BD5"/>
    <a:srgbClr val="4D4D82"/>
    <a:srgbClr val="FEBF6F"/>
    <a:srgbClr val="5C2D9B"/>
    <a:srgbClr val="32A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0" autoAdjust="0"/>
    <p:restoredTop sz="88300"/>
  </p:normalViewPr>
  <p:slideViewPr>
    <p:cSldViewPr snapToGrid="0">
      <p:cViewPr varScale="1">
        <p:scale>
          <a:sx n="140" d="100"/>
          <a:sy n="140" d="100"/>
        </p:scale>
        <p:origin x="1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D5684-4431-405F-90F0-1527D8E47A78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72D49-389B-4082-9FEF-252B5D1E1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89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A4A9F-8941-4D6D-87BC-97C7696052F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98F80-AF13-49CB-B3E2-A4703F179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8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Today, I would like to share with all of you the progress we have made regarding the project titled: Genome assembly of brown (Puccinia melanocephala) and orange (Puccinia kuehnii) sugarcane rust pathogens., </a:t>
            </a:r>
            <a:r>
              <a:rPr lang="en-US" sz="2400" dirty="0" err="1"/>
              <a:t>wich</a:t>
            </a:r>
            <a:r>
              <a:rPr lang="en-US" sz="2400" dirty="0"/>
              <a:t> is </a:t>
            </a:r>
            <a:r>
              <a:rPr lang="en-US" sz="1600" dirty="0"/>
              <a:t>sponsored by the consortium.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E98F80-AF13-49CB-B3E2-A4703F179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9853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95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22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61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"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Usé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 </a:t>
            </a:r>
            <a:r>
              <a:rPr lang="en-US" b="1" i="1" dirty="0">
                <a:solidFill>
                  <a:srgbClr val="CCCCCC"/>
                </a:solidFill>
                <a:effectLst/>
                <a:latin typeface="system-ui"/>
              </a:rPr>
              <a:t>COG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 para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darle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al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público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una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vista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panorámica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de la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evolución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,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demostrando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que ambos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hongos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comparten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el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mismo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metabolismo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base. Pero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usé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 </a:t>
            </a:r>
            <a:r>
              <a:rPr lang="en-US" b="1" i="1" dirty="0">
                <a:solidFill>
                  <a:srgbClr val="CCCCCC"/>
                </a:solidFill>
                <a:effectLst/>
                <a:latin typeface="system-ui"/>
              </a:rPr>
              <a:t>GO Terms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 para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hacer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un zoom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bioquímico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y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entender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las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herramientas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exactas que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el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hongo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usa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a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nivel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celular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,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dónde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están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ubicadas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(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ej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.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Núcleo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,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Mitocondria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) y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qué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tipo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de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reacciones</a:t>
            </a:r>
            <a:r>
              <a:rPr lang="en-US" b="0" i="1" dirty="0">
                <a:solidFill>
                  <a:srgbClr val="CCCCCC"/>
                </a:solidFill>
                <a:effectLst/>
                <a:latin typeface="system-ui"/>
              </a:rPr>
              <a:t>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system-ui"/>
              </a:rPr>
              <a:t>catalizan</a:t>
            </a:r>
            <a:r>
              <a:rPr lang="en-US" b="0" i="1">
                <a:solidFill>
                  <a:srgbClr val="CCCCCC"/>
                </a:solidFill>
                <a:effectLst/>
                <a:latin typeface="system-ui"/>
              </a:rPr>
              <a:t>."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6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47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1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Then</a:t>
            </a:r>
            <a:r>
              <a:rPr lang="es-ES_tradnl" dirty="0"/>
              <a:t> </a:t>
            </a:r>
            <a:r>
              <a:rPr lang="es-ES_tradnl" dirty="0" err="1"/>
              <a:t>we</a:t>
            </a:r>
            <a:r>
              <a:rPr lang="es-ES_tradnl" dirty="0"/>
              <a:t> </a:t>
            </a:r>
            <a:r>
              <a:rPr lang="es-ES_tradnl" dirty="0" err="1"/>
              <a:t>assessed</a:t>
            </a:r>
            <a:r>
              <a:rPr lang="es-ES_tradnl" dirty="0"/>
              <a:t> </a:t>
            </a:r>
            <a:r>
              <a:rPr lang="es-ES_tradnl" dirty="0" err="1"/>
              <a:t>completeness</a:t>
            </a:r>
            <a:r>
              <a:rPr lang="es-ES_tradnl" dirty="0"/>
              <a:t> </a:t>
            </a:r>
            <a:r>
              <a:rPr lang="es-ES_tradnl" dirty="0" err="1"/>
              <a:t>using</a:t>
            </a:r>
            <a:r>
              <a:rPr lang="es-ES_tradnl" dirty="0"/>
              <a:t> BUSCO. </a:t>
            </a:r>
            <a:r>
              <a:rPr lang="es-ES_tradnl" dirty="0" err="1"/>
              <a:t>This</a:t>
            </a:r>
            <a:r>
              <a:rPr lang="es-ES_tradnl" dirty="0"/>
              <a:t> </a:t>
            </a:r>
            <a:r>
              <a:rPr lang="es-ES_tradnl" dirty="0" err="1"/>
              <a:t>analysis</a:t>
            </a:r>
            <a:r>
              <a:rPr lang="es-ES_tradnl" dirty="0"/>
              <a:t> </a:t>
            </a:r>
            <a:r>
              <a:rPr lang="es-ES_tradnl" dirty="0" err="1"/>
              <a:t>checks</a:t>
            </a:r>
            <a:r>
              <a:rPr lang="es-ES_tradnl" dirty="0"/>
              <a:t> </a:t>
            </a:r>
            <a:r>
              <a:rPr lang="es-ES_tradnl" dirty="0" err="1"/>
              <a:t>how</a:t>
            </a:r>
            <a:r>
              <a:rPr lang="es-ES_tradnl" dirty="0"/>
              <a:t> </a:t>
            </a:r>
            <a:r>
              <a:rPr lang="es-ES_tradnl" dirty="0" err="1"/>
              <a:t>many</a:t>
            </a:r>
            <a:r>
              <a:rPr lang="es-ES_tradnl" dirty="0"/>
              <a:t> </a:t>
            </a:r>
            <a:r>
              <a:rPr lang="es-ES_tradnl" dirty="0" err="1"/>
              <a:t>conserved</a:t>
            </a:r>
            <a:r>
              <a:rPr lang="es-ES_tradnl" dirty="0"/>
              <a:t> genes </a:t>
            </a:r>
            <a:r>
              <a:rPr lang="es-ES_tradnl" dirty="0" err="1"/>
              <a:t>expected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Pucciniomycetes</a:t>
            </a:r>
            <a:r>
              <a:rPr lang="es-ES_tradnl" dirty="0"/>
              <a:t> are </a:t>
            </a:r>
            <a:r>
              <a:rPr lang="es-ES_tradnl" dirty="0" err="1"/>
              <a:t>present</a:t>
            </a:r>
            <a:r>
              <a:rPr lang="es-ES_tradnl" dirty="0"/>
              <a:t> in </a:t>
            </a:r>
            <a:r>
              <a:rPr lang="es-ES_tradnl" dirty="0" err="1"/>
              <a:t>our</a:t>
            </a:r>
            <a:r>
              <a:rPr lang="es-ES_tradnl" dirty="0"/>
              <a:t> </a:t>
            </a:r>
            <a:r>
              <a:rPr lang="es-ES_tradnl" dirty="0" err="1"/>
              <a:t>assemblies</a:t>
            </a:r>
            <a:r>
              <a:rPr lang="es-ES_tradnl" dirty="0"/>
              <a:t>.</a:t>
            </a:r>
          </a:p>
          <a:p>
            <a:endParaRPr lang="es-ES_tradnl" dirty="0"/>
          </a:p>
          <a:p>
            <a:r>
              <a:rPr lang="es-ES_tradnl" dirty="0"/>
              <a:t>	•	</a:t>
            </a:r>
            <a:r>
              <a:rPr lang="es-ES_tradnl" dirty="0" err="1"/>
              <a:t>Each</a:t>
            </a:r>
            <a:r>
              <a:rPr lang="es-ES_tradnl" dirty="0"/>
              <a:t> </a:t>
            </a:r>
            <a:r>
              <a:rPr lang="es-ES_tradnl" dirty="0" err="1"/>
              <a:t>haplotype</a:t>
            </a:r>
            <a:r>
              <a:rPr lang="es-ES_tradnl" dirty="0"/>
              <a:t> </a:t>
            </a:r>
            <a:r>
              <a:rPr lang="es-ES_tradnl" dirty="0" err="1"/>
              <a:t>assembly</a:t>
            </a:r>
            <a:r>
              <a:rPr lang="es-ES_tradnl" dirty="0"/>
              <a:t> </a:t>
            </a:r>
            <a:r>
              <a:rPr lang="es-ES_tradnl" dirty="0" err="1"/>
              <a:t>recovered</a:t>
            </a:r>
            <a:r>
              <a:rPr lang="es-ES_tradnl" dirty="0"/>
              <a:t> </a:t>
            </a:r>
            <a:r>
              <a:rPr lang="es-ES_tradnl" dirty="0" err="1"/>
              <a:t>around</a:t>
            </a:r>
            <a:r>
              <a:rPr lang="es-ES_tradnl" dirty="0"/>
              <a:t> 87% </a:t>
            </a:r>
            <a:r>
              <a:rPr lang="es-ES_tradnl" dirty="0" err="1"/>
              <a:t>of</a:t>
            </a:r>
            <a:r>
              <a:rPr lang="es-ES_tradnl" dirty="0"/>
              <a:t> single-</a:t>
            </a:r>
            <a:r>
              <a:rPr lang="es-ES_tradnl" dirty="0" err="1"/>
              <a:t>copy</a:t>
            </a:r>
            <a:r>
              <a:rPr lang="es-ES_tradnl" dirty="0"/>
              <a:t> genes, </a:t>
            </a:r>
            <a:r>
              <a:rPr lang="es-ES_tradnl" dirty="0" err="1"/>
              <a:t>showing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most</a:t>
            </a:r>
            <a:r>
              <a:rPr lang="es-ES_tradnl" dirty="0"/>
              <a:t> </a:t>
            </a:r>
            <a:r>
              <a:rPr lang="es-ES_tradnl" dirty="0" err="1"/>
              <a:t>essential</a:t>
            </a:r>
            <a:r>
              <a:rPr lang="es-ES_tradnl" dirty="0"/>
              <a:t> genes are </a:t>
            </a:r>
            <a:r>
              <a:rPr lang="es-ES_tradnl" dirty="0" err="1"/>
              <a:t>there</a:t>
            </a:r>
            <a:r>
              <a:rPr lang="es-ES_tradnl" dirty="0"/>
              <a:t>.</a:t>
            </a:r>
          </a:p>
          <a:p>
            <a:r>
              <a:rPr lang="es-ES_tradnl" dirty="0"/>
              <a:t>	•	</a:t>
            </a:r>
            <a:r>
              <a:rPr lang="es-ES_tradnl" dirty="0" err="1"/>
              <a:t>We</a:t>
            </a:r>
            <a:r>
              <a:rPr lang="es-ES_tradnl" dirty="0"/>
              <a:t>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saw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duplicated</a:t>
            </a:r>
            <a:r>
              <a:rPr lang="es-ES_tradnl" dirty="0"/>
              <a:t> genes, </a:t>
            </a:r>
            <a:r>
              <a:rPr lang="es-ES_tradnl" dirty="0" err="1"/>
              <a:t>likely</a:t>
            </a:r>
            <a:r>
              <a:rPr lang="es-ES_tradnl" dirty="0"/>
              <a:t> </a:t>
            </a:r>
            <a:r>
              <a:rPr lang="es-ES_tradnl" dirty="0" err="1"/>
              <a:t>due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heterozygosity</a:t>
            </a:r>
            <a:r>
              <a:rPr lang="es-ES_tradnl" dirty="0"/>
              <a:t>.</a:t>
            </a:r>
          </a:p>
          <a:p>
            <a:r>
              <a:rPr lang="es-ES_tradnl" dirty="0"/>
              <a:t>	•	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percentage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missing</a:t>
            </a:r>
            <a:r>
              <a:rPr lang="es-ES_tradnl" dirty="0"/>
              <a:t> genes </a:t>
            </a:r>
            <a:r>
              <a:rPr lang="es-ES_tradnl" dirty="0" err="1"/>
              <a:t>was</a:t>
            </a:r>
            <a:r>
              <a:rPr lang="es-ES_tradnl" dirty="0"/>
              <a:t> </a:t>
            </a:r>
            <a:r>
              <a:rPr lang="es-ES_tradnl" dirty="0" err="1"/>
              <a:t>small</a:t>
            </a:r>
            <a:r>
              <a:rPr lang="es-ES_tradnl" dirty="0"/>
              <a:t>, </a:t>
            </a:r>
            <a:r>
              <a:rPr lang="es-ES_tradnl" dirty="0" err="1"/>
              <a:t>between</a:t>
            </a:r>
            <a:r>
              <a:rPr lang="es-ES_tradnl" dirty="0"/>
              <a:t> 3–5%.</a:t>
            </a:r>
          </a:p>
          <a:p>
            <a:endParaRPr lang="es-ES_tradnl" dirty="0"/>
          </a:p>
          <a:p>
            <a:r>
              <a:rPr lang="es-ES_tradnl" dirty="0" err="1"/>
              <a:t>Overall</a:t>
            </a:r>
            <a:r>
              <a:rPr lang="es-ES_tradnl" dirty="0"/>
              <a:t>, </a:t>
            </a:r>
            <a:r>
              <a:rPr lang="es-ES_tradnl" dirty="0" err="1"/>
              <a:t>this</a:t>
            </a:r>
            <a:r>
              <a:rPr lang="es-ES_tradnl" dirty="0"/>
              <a:t> </a:t>
            </a:r>
            <a:r>
              <a:rPr lang="es-ES_tradnl" dirty="0" err="1"/>
              <a:t>means</a:t>
            </a:r>
            <a:r>
              <a:rPr lang="es-ES_tradnl" dirty="0"/>
              <a:t> </a:t>
            </a:r>
            <a:r>
              <a:rPr lang="es-ES_tradnl" dirty="0" err="1"/>
              <a:t>both</a:t>
            </a:r>
            <a:r>
              <a:rPr lang="es-ES_tradnl" dirty="0"/>
              <a:t> </a:t>
            </a:r>
            <a:r>
              <a:rPr lang="es-ES_tradnl" dirty="0" err="1"/>
              <a:t>haplotypes</a:t>
            </a:r>
            <a:r>
              <a:rPr lang="es-ES_tradnl" dirty="0"/>
              <a:t> are </a:t>
            </a:r>
            <a:r>
              <a:rPr lang="es-ES_tradnl" dirty="0" err="1"/>
              <a:t>well</a:t>
            </a:r>
            <a:r>
              <a:rPr lang="es-ES_tradnl" dirty="0"/>
              <a:t> </a:t>
            </a:r>
            <a:r>
              <a:rPr lang="es-ES_tradnl" dirty="0" err="1"/>
              <a:t>represented</a:t>
            </a:r>
            <a:r>
              <a:rPr lang="es-ES_tradnl" dirty="0"/>
              <a:t>, and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combined</a:t>
            </a:r>
            <a:r>
              <a:rPr lang="es-ES_tradnl" dirty="0"/>
              <a:t> </a:t>
            </a:r>
            <a:r>
              <a:rPr lang="es-ES_tradnl" dirty="0" err="1"/>
              <a:t>assembly</a:t>
            </a:r>
            <a:r>
              <a:rPr lang="es-ES_tradnl" dirty="0"/>
              <a:t> </a:t>
            </a:r>
            <a:r>
              <a:rPr lang="es-ES_tradnl" dirty="0" err="1"/>
              <a:t>is</a:t>
            </a:r>
            <a:r>
              <a:rPr lang="es-ES_tradnl" dirty="0"/>
              <a:t> more </a:t>
            </a:r>
            <a:r>
              <a:rPr lang="es-ES_tradnl" dirty="0" err="1"/>
              <a:t>continuous</a:t>
            </a:r>
            <a:r>
              <a:rPr lang="es-ES_tradnl" dirty="0"/>
              <a:t> and </a:t>
            </a:r>
            <a:r>
              <a:rPr lang="es-ES_tradnl" dirty="0" err="1"/>
              <a:t>slightly</a:t>
            </a:r>
            <a:r>
              <a:rPr lang="es-ES_tradnl" dirty="0"/>
              <a:t> more complete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82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98F80-AF13-49CB-B3E2-A4703F1795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1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7011F4-5961-4460-B95E-BBA008506B2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EA4961-D658-47AF-B232-100C9A423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9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D898-4D19-4C17-92DE-39044937F1EB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403FF-1DD1-46F0-A666-96F8C53BB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4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C18F-C5DB-6A92-F258-7BE912283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822E0-4ABC-B879-1CD7-634C11A4E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120FD-EDF9-3A15-54DA-C0BC2298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8480-3FC3-B8C3-C518-83C5D6C9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3624-AB70-03C5-84C8-0CFC7339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947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C9F3-A803-B625-C487-9948E116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55C35-67CE-AF48-FEE1-66AF32CC7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49D93-0BED-876B-C0C6-E382A682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7BFA5-9A40-09A4-F1BD-A77B0447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64407-D134-0F4D-B3AA-7F85339A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686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F668-E0D6-2CCB-3ACF-62607B38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4231C-9F4B-428D-843E-4736155E6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3C2C-52CF-6D0A-F43A-F59D92A0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DB59D-6C0C-C712-BDB3-097A2630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79334-C0E6-510D-A2B0-1BDB1DFF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9258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C24A-0372-E50B-8D52-89EC0E36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3E228-EC9B-AC86-F568-85B5CEB8B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9939E-D60A-8842-491D-78A88021A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26122-61AF-A1F3-4EF9-AF8E4313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46E8F-7DF5-EAD6-F999-3F0568BB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60880-B64B-C1AB-0409-C37A165E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6194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4943-928F-36FF-AC88-97E33449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CAAC9-F7C6-107B-170F-63BB648B0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399E2-1D82-7131-7180-E6991C5D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04731-ADE3-7FF5-E78B-3A53F7D2F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DB2E1-DADC-937A-62EA-CDCD742E9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4A5B6-5D88-E689-AEE0-05ADA811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B1448-525C-0A61-64A0-DF6A2A4B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48692-E8EA-D97C-2CE5-B3B4EE7D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406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5333-AD43-65AD-4EDB-02701939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52A5A-27D5-FE8E-1FB2-7973F98A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9B27E-F992-407E-BA35-4DCE07A11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CD048-821B-090F-38D2-AAEB06C1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795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974945-368A-9CF7-4F94-7C2F90AD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520AE-5FDD-09EC-B910-3367DACE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A6AF7-D12F-E608-10D9-8930E20D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00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BD8E-DBFE-051F-580C-09DEA90B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B9F54-79B4-A5D1-5E03-030FFD61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A41FF-9961-D31D-A016-55975EA41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47683-8CC3-4FFC-BAD6-EE1BC33A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21C50-C6B0-06F9-1DB3-A18F815C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388CB-164C-C30A-76ED-C50AB0BE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40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C0FC-4051-9E0A-78F0-01A4408D4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D7E62-68D9-3E4B-A9E7-5B5DD7318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8B86F-2734-7424-3CFB-5C350F157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90F2F-F90E-9995-5483-333272B2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93ECB-631F-3ECD-8718-CDC94979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D89E-4691-9C84-1949-A71470D8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6787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A34D-B5BC-CFBB-9902-F4EFC1C3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5ADB9-EE45-34CD-2444-DCD99C947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4BADC-F0BB-E057-FC7D-81826EEDB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2DB9-AC45-596B-0160-2D7DBD3C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88F6-B618-B2AD-E23A-3A6B9D86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9748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255C2-7AC0-6334-2540-9BF385316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772D5-1547-585C-9C94-D9D867D0D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A2FF-BCCF-BC87-87C4-291976B4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70374-D324-E89B-09C5-F6D56A5B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F043E-506C-CAA6-CAEC-3E84E42F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36487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13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517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040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247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ersona, sostener, hombre, viendo&#10;&#10;El contenido generado por IA puede ser incorrecto.">
            <a:extLst>
              <a:ext uri="{FF2B5EF4-FFF2-40B4-BE49-F238E27FC236}">
                <a16:creationId xmlns:a16="http://schemas.microsoft.com/office/drawing/2014/main" id="{7EC88B0B-784A-E930-E355-4FBB53B08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4242"/>
            <a:ext cx="3877858" cy="46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86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951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37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777"/>
            <a:ext cx="12200109" cy="685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6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8D898-4D19-4C17-92DE-39044937F1EB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403FF-1DD1-46F0-A666-96F8C53BBB1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77"/>
            <a:ext cx="12192000" cy="684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60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70D05-CD4F-A49D-6297-CF7F80C8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EE7D2-8B60-C476-C403-702BCEA9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F15C6-63F2-4B1B-FC2C-79E70F1C8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37873-EC80-2643-A08D-C9F2AC0C6BE8}" type="datetimeFigureOut">
              <a:rPr lang="es-ES_tradnl" smtClean="0"/>
              <a:t>6/10/26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02733-7CB8-10CC-3D68-7119752FB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6191-00AE-D6FA-154A-E88656F8C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ED567-2F13-3241-B2D8-D9C05B0F5D0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030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B801EE-B74F-A89D-6058-7458D48469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671" y="189018"/>
            <a:ext cx="2286658" cy="99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TC Avant Garde Pro Md" panose="0200060703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B801EE-B74F-A89D-6058-7458D48469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342" y="5931450"/>
            <a:ext cx="2286658" cy="99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8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TC Avant Garde Pro Md" panose="0200060703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TC Avant Garde Pro Bk" panose="0200050303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09BD124-D9F9-267F-3400-9106475250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4"/>
            <a:ext cx="12192000" cy="68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1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Patrón de fondo&#10;&#10;El contenido generado por IA puede ser incorrecto.">
            <a:extLst>
              <a:ext uri="{FF2B5EF4-FFF2-40B4-BE49-F238E27FC236}">
                <a16:creationId xmlns:a16="http://schemas.microsoft.com/office/drawing/2014/main" id="{4A5AD3A7-18C8-ACFB-C85A-DCA0A314D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08"/>
            <a:ext cx="12192000" cy="6848892"/>
          </a:xfrm>
          <a:prstGeom prst="rect">
            <a:avLst/>
          </a:prstGeom>
        </p:spPr>
      </p:pic>
      <p:pic>
        <p:nvPicPr>
          <p:cNvPr id="8" name="Google Shape;220;p9">
            <a:extLst>
              <a:ext uri="{FF2B5EF4-FFF2-40B4-BE49-F238E27FC236}">
                <a16:creationId xmlns:a16="http://schemas.microsoft.com/office/drawing/2014/main" id="{BCD2DF5F-E147-3DEE-6E2E-F7EE179E17A2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87514" y="67102"/>
            <a:ext cx="3822200" cy="368799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21;p9">
            <a:extLst>
              <a:ext uri="{FF2B5EF4-FFF2-40B4-BE49-F238E27FC236}">
                <a16:creationId xmlns:a16="http://schemas.microsoft.com/office/drawing/2014/main" id="{F66DA077-7A3A-94FC-DAB4-83DBC587C42A}"/>
              </a:ext>
            </a:extLst>
          </p:cNvPr>
          <p:cNvSpPr/>
          <p:nvPr userDrawn="1"/>
        </p:nvSpPr>
        <p:spPr>
          <a:xfrm>
            <a:off x="363945" y="1551993"/>
            <a:ext cx="3492778" cy="4441372"/>
          </a:xfrm>
          <a:prstGeom prst="ellipse">
            <a:avLst/>
          </a:prstGeom>
          <a:noFill/>
          <a:ln w="9525" cap="rnd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25;p9">
            <a:extLst>
              <a:ext uri="{FF2B5EF4-FFF2-40B4-BE49-F238E27FC236}">
                <a16:creationId xmlns:a16="http://schemas.microsoft.com/office/drawing/2014/main" id="{231ECF05-C814-38D6-D6EB-B99805462DF5}"/>
              </a:ext>
            </a:extLst>
          </p:cNvPr>
          <p:cNvSpPr/>
          <p:nvPr userDrawn="1"/>
        </p:nvSpPr>
        <p:spPr>
          <a:xfrm>
            <a:off x="354616" y="991242"/>
            <a:ext cx="3254858" cy="4441372"/>
          </a:xfrm>
          <a:prstGeom prst="ellipse">
            <a:avLst/>
          </a:prstGeom>
          <a:noFill/>
          <a:ln w="19050" cap="rnd" cmpd="sng">
            <a:solidFill>
              <a:schemeClr val="lt1">
                <a:alpha val="60000"/>
              </a:schemeClr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199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A8141-704C-5481-1B39-C7150855AE73}"/>
              </a:ext>
            </a:extLst>
          </p:cNvPr>
          <p:cNvSpPr txBox="1"/>
          <p:nvPr userDrawn="1"/>
        </p:nvSpPr>
        <p:spPr>
          <a:xfrm>
            <a:off x="1725769" y="6014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C9DB0-E715-43EB-F79B-670C276AD0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2" y="5701181"/>
            <a:ext cx="2286658" cy="99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9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 descr="Logotipo&#10;&#10;Descripción generada automáticamente">
            <a:extLst>
              <a:ext uri="{FF2B5EF4-FFF2-40B4-BE49-F238E27FC236}">
                <a16:creationId xmlns:a16="http://schemas.microsoft.com/office/drawing/2014/main" id="{83162977-7FC5-39A6-1A76-FD407AFD8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624" y="5820124"/>
            <a:ext cx="1670538" cy="727944"/>
          </a:xfrm>
          <a:prstGeom prst="rect">
            <a:avLst/>
          </a:prstGeom>
        </p:spPr>
      </p:pic>
      <p:pic>
        <p:nvPicPr>
          <p:cNvPr id="3" name="Imagen 2" descr="Imagen que contiene Gráfico de proyección solar&#10;&#10;El contenido generado por IA puede ser incorrecto.">
            <a:extLst>
              <a:ext uri="{FF2B5EF4-FFF2-40B4-BE49-F238E27FC236}">
                <a16:creationId xmlns:a16="http://schemas.microsoft.com/office/drawing/2014/main" id="{AC21AB7E-6C5E-3B3A-2812-48486E566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6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D779D527-52CA-EB02-D7B7-CFED939E8A0A}"/>
              </a:ext>
            </a:extLst>
          </p:cNvPr>
          <p:cNvSpPr txBox="1"/>
          <p:nvPr/>
        </p:nvSpPr>
        <p:spPr>
          <a:xfrm>
            <a:off x="1466558" y="723816"/>
            <a:ext cx="773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7030A0"/>
                </a:solidFill>
                <a:latin typeface="ITC Avant Garde Pro Bk" panose="02000503030000020004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International </a:t>
            </a: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Consortium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 </a:t>
            </a: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for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 </a:t>
            </a: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Sugarcane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 </a:t>
            </a: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Biotechnology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ITC Avant Garde Pro Bk" panose="02000503030000020004" pitchFamily="50" charset="0"/>
                <a:ea typeface="+mn-ea"/>
                <a:cs typeface="+mn-cs"/>
              </a:rPr>
              <a:t> - 2025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ITC Avant Garde Pro Bk" panose="0200050303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28097-418B-3392-9F08-AB62D06F5616}"/>
              </a:ext>
            </a:extLst>
          </p:cNvPr>
          <p:cNvSpPr txBox="1"/>
          <p:nvPr/>
        </p:nvSpPr>
        <p:spPr>
          <a:xfrm>
            <a:off x="526156" y="1441762"/>
            <a:ext cx="10924911" cy="1200329"/>
          </a:xfrm>
          <a:prstGeom prst="rect">
            <a:avLst/>
          </a:prstGeom>
          <a:solidFill>
            <a:srgbClr val="4D4D82">
              <a:alpha val="43921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Genome assembly of brown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Puccinia melanocephala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), orange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Puccinia kuehnii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) and </a:t>
            </a:r>
            <a:r>
              <a:rPr lang="en-US" sz="2400" dirty="0">
                <a:solidFill>
                  <a:srgbClr val="FFC000"/>
                </a:solidFill>
                <a:latin typeface="ITC Avant Garde Pro Md" panose="02000607030000020004" pitchFamily="2" charset="77"/>
              </a:rPr>
              <a:t>Tawny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Macruropyxis fulva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) sugarcane rust pathogens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31EE5-83B3-08A0-540F-85BA894AEE7D}"/>
              </a:ext>
            </a:extLst>
          </p:cNvPr>
          <p:cNvSpPr txBox="1"/>
          <p:nvPr/>
        </p:nvSpPr>
        <p:spPr>
          <a:xfrm>
            <a:off x="574815" y="2805975"/>
            <a:ext cx="7300222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Master Student: 		Angie Valeria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Quiñones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Md" panose="02000607030000020004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		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aquinones@cenicana.org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Md" panose="02000607030000020004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Md" panose="02000607030000020004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PI:  			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Fernando Silva Aguilar</a:t>
            </a:r>
            <a:r>
              <a:rPr kumimoji="0" lang="en-US" sz="1600" b="0" i="0" u="sng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00503030000020004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		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f</a:t>
            </a:r>
            <a:r>
              <a:rPr kumimoji="0" lang="en-US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silvaag@cenicana.org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 </a:t>
            </a:r>
          </a:p>
          <a:p>
            <a:pPr marL="517944" marR="0" lvl="0" indent="0" algn="l" defTabSz="914400" rtl="0" eaLnBrk="1" fontAlgn="auto" latinLnBrk="0" hangingPunct="1">
              <a:lnSpc>
                <a:spcPct val="100000"/>
              </a:lnSpc>
              <a:spcBef>
                <a:spcPts val="1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00503030000020004" pitchFamily="2" charset="77"/>
              <a:ea typeface="+mn-ea"/>
              <a:cs typeface="+mn-cs"/>
            </a:endParaRPr>
          </a:p>
          <a:p>
            <a:pPr marL="0" marR="26930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Co-PI: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			Dr. 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John J. Riascos</a:t>
            </a:r>
            <a:r>
              <a:rPr kumimoji="0" lang="en-US" sz="1600" b="0" i="0" u="sng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00503030000020004" pitchFamily="2" charset="77"/>
              <a:ea typeface="+mn-ea"/>
              <a:cs typeface="+mn-cs"/>
            </a:endParaRPr>
          </a:p>
          <a:p>
            <a:pPr marL="0" marR="26930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		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j</a:t>
            </a:r>
            <a:r>
              <a:rPr kumimoji="0" lang="en-US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jriascos@cenicana.org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 </a:t>
            </a:r>
          </a:p>
          <a:p>
            <a:pPr marL="61405" marR="269304" lvl="0" indent="-456527" algn="l" defTabSz="914400" rtl="0" eaLnBrk="1" fontAlgn="auto" latinLnBrk="0" hangingPunct="1">
              <a:lnSpc>
                <a:spcPct val="100000"/>
              </a:lnSpc>
              <a:spcBef>
                <a:spcPts val="13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00503030000020004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Co-PI: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			Dr. 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Jhon Henry Trujillo Montenegro</a:t>
            </a:r>
            <a:r>
              <a:rPr kumimoji="0" lang="en-US" sz="1600" b="0" i="0" u="sng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1</a:t>
            </a:r>
            <a:endParaRPr kumimoji="0" lang="en-US" sz="16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00503030000020004" pitchFamily="2" charset="7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		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jhtrujillo</a:t>
            </a:r>
            <a:r>
              <a:rPr kumimoji="0" lang="en-US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@cenicana.org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97C3E-CDF1-AD08-A807-6A53A99633B6}"/>
              </a:ext>
            </a:extLst>
          </p:cNvPr>
          <p:cNvSpPr txBox="1"/>
          <p:nvPr/>
        </p:nvSpPr>
        <p:spPr>
          <a:xfrm>
            <a:off x="980503" y="5793889"/>
            <a:ext cx="5378788" cy="830997"/>
          </a:xfrm>
          <a:prstGeom prst="rect">
            <a:avLst/>
          </a:prstGeom>
          <a:solidFill>
            <a:schemeClr val="accent6">
              <a:lumMod val="50000"/>
              <a:alpha val="17945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Md" panose="02000607030000020004" pitchFamily="2" charset="77"/>
                <a:ea typeface="+mn-ea"/>
                <a:cs typeface="+mn-cs"/>
              </a:rPr>
              <a:t>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CENICAÑA - Centro de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Investigación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 de la 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Caña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 de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Azúcar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, (CENICAÑA),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Estación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 Experimental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vía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 Cali-Florida km 26. 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Pro Bk" panose="02000503030000020004" pitchFamily="2" charset="77"/>
                <a:ea typeface="+mn-ea"/>
                <a:cs typeface="+mn-cs"/>
              </a:rPr>
              <a:t>Valle del Cauca, Colombia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TC Avant Garde Pro Bk" panose="02000503030000020004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72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F80B5-E7DE-9825-1B2C-741881BEE276}"/>
              </a:ext>
            </a:extLst>
          </p:cNvPr>
          <p:cNvSpPr txBox="1"/>
          <p:nvPr/>
        </p:nvSpPr>
        <p:spPr>
          <a:xfrm>
            <a:off x="0" y="2945833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11458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F80B5-E7DE-9825-1B2C-741881BEE276}"/>
              </a:ext>
            </a:extLst>
          </p:cNvPr>
          <p:cNvSpPr txBox="1"/>
          <p:nvPr/>
        </p:nvSpPr>
        <p:spPr>
          <a:xfrm>
            <a:off x="0" y="33082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Real Dimensions of the Assembled Genomes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0F809-C5D0-3947-DE8A-0FD152D6E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40321"/>
              </p:ext>
            </p:extLst>
          </p:nvPr>
        </p:nvGraphicFramePr>
        <p:xfrm>
          <a:off x="718560" y="1308512"/>
          <a:ext cx="10515600" cy="4214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711949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752105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7929613"/>
                    </a:ext>
                  </a:extLst>
                </a:gridCol>
              </a:tblGrid>
              <a:tr h="750032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Genome Assembly </a:t>
                      </a:r>
                    </a:p>
                    <a:p>
                      <a:pPr algn="ctr"/>
                      <a:r>
                        <a:rPr lang="en-US" b="0" i="0" dirty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Metric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Puccinia melanocephala </a:t>
                      </a:r>
                    </a:p>
                    <a:p>
                      <a:pPr algn="ctr"/>
                      <a:r>
                        <a:rPr lang="en-US" b="0" i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(Brown Rust)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Puccinia kuehnii </a:t>
                      </a:r>
                    </a:p>
                    <a:p>
                      <a:pPr algn="ctr"/>
                      <a:r>
                        <a:rPr lang="en-US" b="0" i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(Orange Rust)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553459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Total Assembly Size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322.68 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267.54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944017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Repetitive Regions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58.3%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48.6%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267426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Number of Contigs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1,455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1,557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870399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Contig N50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712.3 kb</a:t>
                      </a:r>
                      <a:endParaRPr lang="en-US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310.1 kb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069804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Max Contig Length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5.92 Mb</a:t>
                      </a:r>
                      <a:endParaRPr lang="en-US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2.05 Mb</a:t>
                      </a:r>
                      <a:endParaRPr lang="en-US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085137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GC Content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38.6%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32.7%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454376"/>
                  </a:ext>
                </a:extLst>
              </a:tr>
              <a:tr h="60717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BUSCO Completeness (Pucciniomycetes)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93.4%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93.1%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1317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Total Predicted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 dirty="0">
                          <a:effectLst/>
                          <a:latin typeface="ITC Avant Garde Pro Bk" panose="02000503030000020004" pitchFamily="2" charset="77"/>
                        </a:rPr>
                        <a:t>32,412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15,690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979149"/>
                  </a:ext>
                </a:extLst>
              </a:tr>
              <a:tr h="35715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</a:rPr>
                        <a:t>Gene Density (Genes/Mb)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ITC Avant Garde Pro Md" panose="02000607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>
                          <a:effectLst/>
                          <a:latin typeface="ITC Avant Garde Pro Bk" panose="02000503030000020004" pitchFamily="2" charset="77"/>
                        </a:rPr>
                        <a:t>100.4</a:t>
                      </a:r>
                      <a:endParaRPr lang="en-CO" sz="1400" b="0" i="0" dirty="0"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O" sz="1400" b="0" i="0" dirty="0">
                          <a:effectLst/>
                          <a:latin typeface="ITC Avant Garde Pro Bk" panose="02000503030000020004" pitchFamily="2" charset="77"/>
                        </a:rPr>
                        <a:t>58.6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09803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D755C3-8E8F-DF0E-1FCE-59B7AA294837}"/>
              </a:ext>
            </a:extLst>
          </p:cNvPr>
          <p:cNvSpPr txBox="1"/>
          <p:nvPr/>
        </p:nvSpPr>
        <p:spPr>
          <a:xfrm>
            <a:off x="429768" y="5929964"/>
            <a:ext cx="10927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ITC Avant Garde Pro Bk" panose="02000503030000020004" pitchFamily="2" charset="77"/>
              </a:rPr>
              <a:t>Summary of assembly, completeness, and annotation metrics for </a:t>
            </a:r>
            <a:r>
              <a:rPr lang="en-US" i="1" dirty="0">
                <a:effectLst/>
                <a:latin typeface="ITC Avant Garde Pro Bk" panose="02000503030000020004" pitchFamily="2" charset="77"/>
              </a:rPr>
              <a:t>P. melanocephala </a:t>
            </a:r>
            <a:r>
              <a:rPr lang="en-US" dirty="0">
                <a:effectLst/>
                <a:latin typeface="ITC Avant Garde Pro Bk" panose="02000503030000020004" pitchFamily="2" charset="77"/>
              </a:rPr>
              <a:t>and </a:t>
            </a:r>
            <a:r>
              <a:rPr lang="en-US" i="1" dirty="0">
                <a:effectLst/>
                <a:latin typeface="ITC Avant Garde Pro Bk" panose="02000503030000020004" pitchFamily="2" charset="77"/>
              </a:rPr>
              <a:t>P. kuehnii </a:t>
            </a:r>
            <a:r>
              <a:rPr lang="en-US" dirty="0">
                <a:effectLst/>
                <a:latin typeface="ITC Avant Garde Pro Bk" panose="02000503030000020004" pitchFamily="2" charset="77"/>
              </a:rPr>
              <a:t>genomes.</a:t>
            </a:r>
            <a:endParaRPr lang="es-ES_tradnl" dirty="0">
              <a:latin typeface="ITC Avant Garde Pro Bk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58606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F80B5-E7DE-9825-1B2C-741881BEE276}"/>
              </a:ext>
            </a:extLst>
          </p:cNvPr>
          <p:cNvSpPr txBox="1"/>
          <p:nvPr/>
        </p:nvSpPr>
        <p:spPr>
          <a:xfrm>
            <a:off x="0" y="255104"/>
            <a:ext cx="121920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Functional distribution and paralogous expansion </a:t>
            </a:r>
          </a:p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in </a:t>
            </a:r>
            <a:r>
              <a:rPr lang="en-US" sz="2800" i="1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P. melanocephala </a:t>
            </a: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and </a:t>
            </a:r>
            <a:r>
              <a:rPr lang="en-US" sz="2800" i="1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P. kuehnii </a:t>
            </a: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genomes.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A0F809-C5D0-3947-DE8A-0FD152D6E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121672"/>
              </p:ext>
            </p:extLst>
          </p:nvPr>
        </p:nvGraphicFramePr>
        <p:xfrm>
          <a:off x="775816" y="1575075"/>
          <a:ext cx="10903722" cy="3965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4574">
                  <a:extLst>
                    <a:ext uri="{9D8B030D-6E8A-4147-A177-3AD203B41FA5}">
                      <a16:colId xmlns:a16="http://schemas.microsoft.com/office/drawing/2014/main" val="3671194967"/>
                    </a:ext>
                  </a:extLst>
                </a:gridCol>
                <a:gridCol w="3634574">
                  <a:extLst>
                    <a:ext uri="{9D8B030D-6E8A-4147-A177-3AD203B41FA5}">
                      <a16:colId xmlns:a16="http://schemas.microsoft.com/office/drawing/2014/main" val="675210535"/>
                    </a:ext>
                  </a:extLst>
                </a:gridCol>
                <a:gridCol w="3634574">
                  <a:extLst>
                    <a:ext uri="{9D8B030D-6E8A-4147-A177-3AD203B41FA5}">
                      <a16:colId xmlns:a16="http://schemas.microsoft.com/office/drawing/2014/main" val="1607929613"/>
                    </a:ext>
                  </a:extLst>
                </a:gridCol>
              </a:tblGrid>
              <a:tr h="581026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Functional and Redundancy Metric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Puccinia melanocephala (Brown Rust)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solidFill>
                            <a:schemeClr val="bg1"/>
                          </a:solidFill>
                          <a:effectLst/>
                          <a:latin typeface="ITC Avant Garde Pro Md" panose="02000607030000020004" pitchFamily="2" charset="77"/>
                        </a:rPr>
                        <a:t>Puccinia kuehnii (Orange Rust)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553459"/>
                  </a:ext>
                </a:extLst>
              </a:tr>
              <a:tr h="38784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  <a:ea typeface="+mn-ea"/>
                          <a:cs typeface="+mn-cs"/>
                        </a:rPr>
                        <a:t>Total Predicted Genes (Unique Loci)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32,412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15,690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944017"/>
                  </a:ext>
                </a:extLst>
              </a:tr>
              <a:tr h="38784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  <a:ea typeface="+mn-ea"/>
                          <a:cs typeface="+mn-cs"/>
                        </a:rPr>
                        <a:t>Genes with Functional Annotation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14,942 genes (46.1%)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6,433 genes (41.0%)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267426"/>
                  </a:ext>
                </a:extLst>
              </a:tr>
              <a:tr h="61094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effectLst/>
                          <a:latin typeface="ITC Avant Garde Pro Md" panose="02000607030000020004" pitchFamily="2" charset="77"/>
                        </a:rPr>
                        <a:t>Unique Base Genes (Orthologous Groups)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3,276 base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3,178 base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870399"/>
                  </a:ext>
                </a:extLst>
              </a:tr>
              <a:tr h="387848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Strict single-copy base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2,074 base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2,102 base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069804"/>
                  </a:ext>
                </a:extLst>
              </a:tr>
              <a:tr h="610944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Multi-copy base genes (Expanded paralogs)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1,202 base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1,076 base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085137"/>
                  </a:ext>
                </a:extLst>
              </a:tr>
              <a:tr h="387848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  <a:ea typeface="+mn-ea"/>
                          <a:cs typeface="+mn-cs"/>
                        </a:rPr>
                        <a:t>Total redundant paralogous copies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&gt; 11,600 copies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&gt; 3,200 copies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454376"/>
                  </a:ext>
                </a:extLst>
              </a:tr>
              <a:tr h="610944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ITC Avant Garde Pro Md" panose="02000607030000020004" pitchFamily="2" charset="77"/>
                          <a:ea typeface="+mn-ea"/>
                          <a:cs typeface="+mn-cs"/>
                        </a:rPr>
                        <a:t>Genes without Functional Annotation (Hypothetical)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effectLst/>
                          <a:latin typeface="ITC Avant Garde Pro Bk" panose="02000503030000020004" pitchFamily="2" charset="77"/>
                        </a:rPr>
                        <a:t>17,470 genes (53.9%)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effectLst/>
                          <a:latin typeface="ITC Avant Garde Pro Bk" panose="02000503030000020004" pitchFamily="2" charset="77"/>
                        </a:rPr>
                        <a:t>9,257 genes (59.0%)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9791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D755C3-8E8F-DF0E-1FCE-59B7AA294837}"/>
              </a:ext>
            </a:extLst>
          </p:cNvPr>
          <p:cNvSpPr txBox="1"/>
          <p:nvPr/>
        </p:nvSpPr>
        <p:spPr>
          <a:xfrm>
            <a:off x="571971" y="5970215"/>
            <a:ext cx="10750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ITC Avant Garde Pro Bk" panose="02000503030000020004" pitchFamily="2" charset="77"/>
              </a:rPr>
              <a:t>Summary of functional annotation, orthologous groups, and paralogous gene expansion for </a:t>
            </a:r>
            <a:r>
              <a:rPr lang="en-US" i="1" dirty="0">
                <a:effectLst/>
                <a:latin typeface="ITC Avant Garde Pro Bk" panose="02000503030000020004" pitchFamily="2" charset="77"/>
              </a:rPr>
              <a:t>P. melanocephala </a:t>
            </a:r>
            <a:r>
              <a:rPr lang="en-US" dirty="0">
                <a:effectLst/>
                <a:latin typeface="ITC Avant Garde Pro Bk" panose="02000503030000020004" pitchFamily="2" charset="77"/>
              </a:rPr>
              <a:t>and</a:t>
            </a:r>
            <a:r>
              <a:rPr lang="en-US" i="1" dirty="0">
                <a:effectLst/>
                <a:latin typeface="ITC Avant Garde Pro Bk" panose="02000503030000020004" pitchFamily="2" charset="77"/>
              </a:rPr>
              <a:t> P. kuehnii </a:t>
            </a:r>
            <a:r>
              <a:rPr lang="en-US" dirty="0">
                <a:effectLst/>
                <a:latin typeface="ITC Avant Garde Pro Bk" panose="02000503030000020004" pitchFamily="2" charset="77"/>
              </a:rPr>
              <a:t>genomes.</a:t>
            </a:r>
            <a:endParaRPr lang="es-ES_tradnl" dirty="0">
              <a:latin typeface="ITC Avant Garde Pro Bk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396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F80B5-E7DE-9825-1B2C-741881BEE276}"/>
              </a:ext>
            </a:extLst>
          </p:cNvPr>
          <p:cNvSpPr txBox="1"/>
          <p:nvPr/>
        </p:nvSpPr>
        <p:spPr>
          <a:xfrm>
            <a:off x="0" y="255104"/>
            <a:ext cx="121920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Functional distribution and paralogous expansion </a:t>
            </a:r>
          </a:p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in </a:t>
            </a:r>
            <a:r>
              <a:rPr lang="en-US" sz="2800" i="1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P. melanocephala </a:t>
            </a: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and </a:t>
            </a:r>
            <a:r>
              <a:rPr lang="en-US" sz="2800" i="1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P. kuehnii </a:t>
            </a: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genomes.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755C3-8E8F-DF0E-1FCE-59B7AA294837}"/>
              </a:ext>
            </a:extLst>
          </p:cNvPr>
          <p:cNvSpPr txBox="1"/>
          <p:nvPr/>
        </p:nvSpPr>
        <p:spPr>
          <a:xfrm>
            <a:off x="626835" y="5933639"/>
            <a:ext cx="10750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effectLst/>
                <a:latin typeface="ITC Avant Garde Pro Bk" panose="02000503030000020004" pitchFamily="2" charset="77"/>
              </a:rPr>
              <a:t>Summary of COG functional classification and biological pathway distribution for</a:t>
            </a:r>
            <a:r>
              <a:rPr lang="en-US" i="1" dirty="0">
                <a:solidFill>
                  <a:srgbClr val="7030A0"/>
                </a:solidFill>
                <a:effectLst/>
                <a:latin typeface="ITC Avant Garde Pro Bk" panose="02000503030000020004" pitchFamily="2" charset="77"/>
              </a:rPr>
              <a:t> P. melanocephala</a:t>
            </a:r>
            <a:r>
              <a:rPr lang="en-US" dirty="0">
                <a:solidFill>
                  <a:srgbClr val="7030A0"/>
                </a:solidFill>
                <a:effectLst/>
                <a:latin typeface="ITC Avant Garde Pro Bk" panose="02000503030000020004" pitchFamily="2" charset="77"/>
              </a:rPr>
              <a:t> and </a:t>
            </a:r>
            <a:r>
              <a:rPr lang="en-US" i="1" dirty="0">
                <a:solidFill>
                  <a:srgbClr val="7030A0"/>
                </a:solidFill>
                <a:effectLst/>
                <a:latin typeface="ITC Avant Garde Pro Bk" panose="02000503030000020004" pitchFamily="2" charset="77"/>
              </a:rPr>
              <a:t>P. kuehnii</a:t>
            </a:r>
            <a:r>
              <a:rPr lang="en-US" dirty="0">
                <a:solidFill>
                  <a:srgbClr val="7030A0"/>
                </a:solidFill>
                <a:effectLst/>
                <a:latin typeface="ITC Avant Garde Pro Bk" panose="02000503030000020004" pitchFamily="2" charset="77"/>
              </a:rPr>
              <a:t> genomes.</a:t>
            </a:r>
            <a:endParaRPr lang="es-ES_tradnl" dirty="0">
              <a:solidFill>
                <a:srgbClr val="7030A0"/>
              </a:solidFill>
              <a:latin typeface="ITC Avant Garde Pro Bk" panose="02000503030000020004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B3CF34-F92C-23FA-9BC8-A89EFD172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" y="1729909"/>
            <a:ext cx="7896833" cy="37290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7BEEFB-A7BE-A3E7-AA6C-68EA5E480D6E}"/>
              </a:ext>
            </a:extLst>
          </p:cNvPr>
          <p:cNvSpPr txBox="1"/>
          <p:nvPr/>
        </p:nvSpPr>
        <p:spPr>
          <a:xfrm>
            <a:off x="8567928" y="2009662"/>
            <a:ext cx="354787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Information Processing: </a:t>
            </a:r>
            <a:r>
              <a:rPr lang="en-US" sz="1400" dirty="0">
                <a:effectLst/>
                <a:latin typeface="ITC Avant Garde Pro Bk" panose="02000503030000020004" pitchFamily="2" charset="77"/>
              </a:rPr>
              <a:t>Core genetic machinery for DNA replication, RNA transcription, and protein synthesis.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ITC Avant Garde Pro Bk" panose="02000503030000020004" pitchFamily="2" charset="77"/>
            </a:endParaRPr>
          </a:p>
          <a:p>
            <a:pPr algn="l"/>
            <a:r>
              <a:rPr lang="en-US" sz="1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Cellular Processes: </a:t>
            </a:r>
            <a:r>
              <a:rPr lang="en-US" sz="1400" dirty="0">
                <a:effectLst/>
                <a:latin typeface="ITC Avant Garde Pro Bk" panose="02000503030000020004" pitchFamily="2" charset="77"/>
              </a:rPr>
              <a:t>Environmental sensing, cell wall building, and vesicular transport of toxins.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ITC Avant Garde Pro Bk" panose="02000503030000020004" pitchFamily="2" charset="77"/>
            </a:endParaRPr>
          </a:p>
          <a:p>
            <a:pPr algn="l"/>
            <a:r>
              <a:rPr lang="en-US" sz="1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Metabolism</a:t>
            </a:r>
            <a:r>
              <a:rPr lang="en-US" sz="1400" dirty="0">
                <a:effectLst/>
                <a:latin typeface="ITC Avant Garde Pro Bk" panose="02000503030000020004" pitchFamily="2" charset="77"/>
              </a:rPr>
              <a:t>: Processing stolen plant nutrients to generate energy (ATP) for fungal growth.</a:t>
            </a:r>
          </a:p>
          <a:p>
            <a:pPr algn="l"/>
            <a:endParaRPr lang="en-US" sz="1400" dirty="0">
              <a:latin typeface="ITC Avant Garde Pro Bk" panose="02000503030000020004" pitchFamily="2" charset="77"/>
            </a:endParaRPr>
          </a:p>
          <a:p>
            <a:r>
              <a:rPr lang="en-US" sz="1400" dirty="0">
                <a:solidFill>
                  <a:srgbClr val="7030A0"/>
                </a:solidFill>
                <a:effectLst/>
                <a:latin typeface="ITC Avant Garde Pro Md" panose="02000607030000020004" pitchFamily="2" charset="77"/>
              </a:rPr>
              <a:t>Uncharacterized: </a:t>
            </a:r>
            <a:r>
              <a:rPr lang="en-US" sz="1400" dirty="0">
                <a:effectLst/>
                <a:latin typeface="ITC Avant Garde Pro Bk" panose="02000503030000020004" pitchFamily="2" charset="77"/>
              </a:rPr>
              <a:t>Secreted "weapons" and novel effectors used to evade sugarcane immunity.</a:t>
            </a:r>
          </a:p>
        </p:txBody>
      </p:sp>
    </p:spTree>
    <p:extLst>
      <p:ext uri="{BB962C8B-B14F-4D97-AF65-F5344CB8AC3E}">
        <p14:creationId xmlns:p14="http://schemas.microsoft.com/office/powerpoint/2010/main" val="297239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F80B5-E7DE-9825-1B2C-741881BEE276}"/>
              </a:ext>
            </a:extLst>
          </p:cNvPr>
          <p:cNvSpPr txBox="1"/>
          <p:nvPr/>
        </p:nvSpPr>
        <p:spPr>
          <a:xfrm>
            <a:off x="0" y="255104"/>
            <a:ext cx="121920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Functional distribution and paralogous expansion </a:t>
            </a:r>
          </a:p>
          <a:p>
            <a:pPr algn="ctr">
              <a:spcBef>
                <a:spcPts val="600"/>
              </a:spcBef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in </a:t>
            </a:r>
            <a:r>
              <a:rPr lang="en-US" sz="2800" i="1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P. melanocephala </a:t>
            </a: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and </a:t>
            </a:r>
            <a:r>
              <a:rPr lang="en-US" sz="2800" i="1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P. kuehnii </a:t>
            </a: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genomes.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755C3-8E8F-DF0E-1FCE-59B7AA294837}"/>
              </a:ext>
            </a:extLst>
          </p:cNvPr>
          <p:cNvSpPr txBox="1"/>
          <p:nvPr/>
        </p:nvSpPr>
        <p:spPr>
          <a:xfrm>
            <a:off x="626835" y="5933639"/>
            <a:ext cx="10750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ITC Avant Garde Pro Bk" panose="02000503030000020004" pitchFamily="2" charset="77"/>
              </a:rPr>
              <a:t>Summary of Gene Ontology (GO Slim) functional classification across major biological domains for sugarcane rusts.</a:t>
            </a:r>
            <a:endParaRPr lang="es-ES_tradnl" dirty="0">
              <a:solidFill>
                <a:srgbClr val="7030A0"/>
              </a:solidFill>
              <a:latin typeface="ITC Avant Garde Pro Bk" panose="02000503030000020004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7BEEFB-A7BE-A3E7-AA6C-68EA5E480D6E}"/>
              </a:ext>
            </a:extLst>
          </p:cNvPr>
          <p:cNvSpPr txBox="1"/>
          <p:nvPr/>
        </p:nvSpPr>
        <p:spPr>
          <a:xfrm>
            <a:off x="8567928" y="2009662"/>
            <a:ext cx="35478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Biological Process: </a:t>
            </a:r>
            <a:r>
              <a:rPr lang="en-US" sz="1400" dirty="0">
                <a:latin typeface="ITC Avant Garde Pro Bk" panose="02000503030000020004" pitchFamily="2" charset="77"/>
              </a:rPr>
              <a:t>Broad biological goals the fungus accomplishes, such as cell cycle, transcription regulation, and vesicle-mediated transport.</a:t>
            </a:r>
          </a:p>
          <a:p>
            <a:pPr algn="l"/>
            <a:endParaRPr lang="en-US" sz="1400" dirty="0">
              <a:latin typeface="ITC Avant Garde Pro Bk" panose="02000503030000020004" pitchFamily="2" charset="77"/>
            </a:endParaRPr>
          </a:p>
          <a:p>
            <a:pPr algn="l"/>
            <a:r>
              <a:rPr lang="en-US" sz="1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Molecular Function: </a:t>
            </a:r>
            <a:r>
              <a:rPr lang="en-US" sz="1400" dirty="0">
                <a:latin typeface="ITC Avant Garde Pro Bk" panose="02000503030000020004" pitchFamily="2" charset="77"/>
              </a:rPr>
              <a:t>The exact biochemical "jobs" of the genes, heavily dominated by catalytic, transferase, and hydrolase activities required for pathogenesis.</a:t>
            </a:r>
          </a:p>
          <a:p>
            <a:pPr algn="l"/>
            <a:endParaRPr lang="en-US" sz="1400" dirty="0">
              <a:latin typeface="ITC Avant Garde Pro Bk" panose="02000503030000020004" pitchFamily="2" charset="77"/>
            </a:endParaRPr>
          </a:p>
          <a:p>
            <a:pPr algn="l"/>
            <a:r>
              <a:rPr lang="en-US" sz="1400" dirty="0">
                <a:solidFill>
                  <a:srgbClr val="7030A0"/>
                </a:solidFill>
                <a:latin typeface="ITC Avant Garde Pro Md" panose="02000607030000020004" pitchFamily="2" charset="77"/>
              </a:rPr>
              <a:t>Cellular Component: </a:t>
            </a:r>
            <a:r>
              <a:rPr lang="en-US" sz="1400" dirty="0">
                <a:latin typeface="ITC Avant Garde Pro Bk" panose="02000503030000020004" pitchFamily="2" charset="77"/>
              </a:rPr>
              <a:t>The physical cellular structures where these proteins operate, highlighting core machinery like the nucleus, mitochondrion, and endoplasmic reticulum.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73E3D-E0A3-05DA-3C64-169382F1E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6" y="1751076"/>
            <a:ext cx="7772400" cy="36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F80B5-E7DE-9825-1B2C-741881BEE276}"/>
              </a:ext>
            </a:extLst>
          </p:cNvPr>
          <p:cNvSpPr txBox="1"/>
          <p:nvPr/>
        </p:nvSpPr>
        <p:spPr>
          <a:xfrm>
            <a:off x="0" y="33082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Bef>
                <a:spcPts val="600"/>
              </a:spcBef>
              <a:buFont typeface="+mj-lt"/>
              <a:buAutoNum type="arabicPeriod" startAt="3"/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Assembly strategy performed and results.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97F52-822F-08F8-D351-D1F1310E9909}"/>
              </a:ext>
            </a:extLst>
          </p:cNvPr>
          <p:cNvSpPr txBox="1"/>
          <p:nvPr/>
        </p:nvSpPr>
        <p:spPr>
          <a:xfrm>
            <a:off x="0" y="869855"/>
            <a:ext cx="12192000" cy="36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800"/>
              <a:defRPr/>
            </a:pPr>
            <a:r>
              <a:rPr lang="en-AU" sz="1600" dirty="0">
                <a:solidFill>
                  <a:srgbClr val="7030A0"/>
                </a:solidFill>
                <a:latin typeface="ITC Avant Garde Pro Bk" panose="02000503030000020004" pitchFamily="2" charset="77"/>
                <a:ea typeface="+mj-ea"/>
                <a:cs typeface="Arial Narrow" panose="020B0604020202020204" pitchFamily="34" charset="0"/>
                <a:sym typeface="Questrial"/>
              </a:rPr>
              <a:t>Assembly results Brown Rust (M1)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15E5F1-2DDA-8572-0BC4-9C4DEFA482C5}"/>
              </a:ext>
            </a:extLst>
          </p:cNvPr>
          <p:cNvGraphicFramePr>
            <a:graphicFrameLocks noGrp="1"/>
          </p:cNvGraphicFramePr>
          <p:nvPr/>
        </p:nvGraphicFramePr>
        <p:xfrm>
          <a:off x="2892966" y="1725325"/>
          <a:ext cx="6498393" cy="1774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6131">
                  <a:extLst>
                    <a:ext uri="{9D8B030D-6E8A-4147-A177-3AD203B41FA5}">
                      <a16:colId xmlns:a16="http://schemas.microsoft.com/office/drawing/2014/main" val="965591575"/>
                    </a:ext>
                  </a:extLst>
                </a:gridCol>
                <a:gridCol w="2166131">
                  <a:extLst>
                    <a:ext uri="{9D8B030D-6E8A-4147-A177-3AD203B41FA5}">
                      <a16:colId xmlns:a16="http://schemas.microsoft.com/office/drawing/2014/main" val="2753311231"/>
                    </a:ext>
                  </a:extLst>
                </a:gridCol>
                <a:gridCol w="2166131">
                  <a:extLst>
                    <a:ext uri="{9D8B030D-6E8A-4147-A177-3AD203B41FA5}">
                      <a16:colId xmlns:a16="http://schemas.microsoft.com/office/drawing/2014/main" val="929915840"/>
                    </a:ext>
                  </a:extLst>
                </a:gridCol>
              </a:tblGrid>
              <a:tr h="4960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TC Avant Garde Pro Md" panose="02000607030000020004" pitchFamily="2" charset="77"/>
                        </a:rPr>
                        <a:t>Metric</a:t>
                      </a:r>
                    </a:p>
                  </a:txBody>
                  <a:tcPr marL="4780" marR="4780" marT="478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TC Avant Garde Pro Md" panose="02000607030000020004" pitchFamily="2" charset="77"/>
                        </a:rPr>
                        <a:t>hap1.p_ctg.fa</a:t>
                      </a:r>
                    </a:p>
                  </a:txBody>
                  <a:tcPr marL="4780" marR="4780" marT="478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ITC Avant Garde Pro Md" panose="02000607030000020004" pitchFamily="2" charset="77"/>
                        </a:rPr>
                        <a:t>hap2.p_ctg.fa</a:t>
                      </a:r>
                    </a:p>
                  </a:txBody>
                  <a:tcPr marL="4780" marR="4780" marT="4780" marB="0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50663"/>
                  </a:ext>
                </a:extLst>
              </a:tr>
              <a:tr h="3054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# contigs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8,904</a:t>
                      </a:r>
                      <a:endParaRPr lang="en-CO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>
                          <a:latin typeface="ITC Avant Garde Pro Bk" panose="02000503030000020004" pitchFamily="2" charset="77"/>
                        </a:rPr>
                        <a:t>4,373</a:t>
                      </a:r>
                      <a:endParaRPr lang="en-CO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39010"/>
                  </a:ext>
                </a:extLst>
              </a:tr>
              <a:tr h="3337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Largest contig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4.2 Mbp</a:t>
                      </a:r>
                      <a:endParaRPr lang="en-CO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6.0 Mbp</a:t>
                      </a:r>
                      <a:endParaRPr lang="en-CO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764290"/>
                  </a:ext>
                </a:extLst>
              </a:tr>
              <a:tr h="3337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Total length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460 Mbp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422 Mbp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821757"/>
                  </a:ext>
                </a:extLst>
              </a:tr>
              <a:tr h="30542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N50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423 Kbp</a:t>
                      </a:r>
                      <a:endParaRPr lang="en-CO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600" b="0" i="0" dirty="0">
                          <a:latin typeface="ITC Avant Garde Pro Bk" panose="02000503030000020004" pitchFamily="2" charset="77"/>
                        </a:rPr>
                        <a:t>555 Kbp</a:t>
                      </a:r>
                      <a:endParaRPr lang="en-CO" sz="16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4780" marR="4780" marT="478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09336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DBF230D-CA02-4E8B-3154-A3209E0FC88F}"/>
              </a:ext>
            </a:extLst>
          </p:cNvPr>
          <p:cNvSpPr txBox="1"/>
          <p:nvPr/>
        </p:nvSpPr>
        <p:spPr>
          <a:xfrm>
            <a:off x="1868162" y="3908361"/>
            <a:ext cx="89413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ITC Avant Garde Pro Bk" panose="02000503030000020004" pitchFamily="2" charset="77"/>
              </a:rPr>
              <a:t>For Haplotype 1</a:t>
            </a:r>
            <a:r>
              <a:rPr lang="en-US" dirty="0">
                <a:latin typeface="ITC Avant Garde Pro Bk" panose="02000503030000020004" pitchFamily="2" charset="77"/>
              </a:rPr>
              <a:t>, we obtained about 8,900 contigs, the longest contig was around 4.2 Mb, with an N50 of about 423 kb, and a total genome size close to 460 Mb.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3D3D5-9BB7-A0B6-0118-05B29EECDDEA}"/>
              </a:ext>
            </a:extLst>
          </p:cNvPr>
          <p:cNvSpPr txBox="1"/>
          <p:nvPr/>
        </p:nvSpPr>
        <p:spPr>
          <a:xfrm>
            <a:off x="1848672" y="5170914"/>
            <a:ext cx="9073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ITC Avant Garde Pro Bk" panose="02000503030000020004" pitchFamily="2" charset="77"/>
              </a:rPr>
              <a:t>For Haplotype 2</a:t>
            </a:r>
            <a:r>
              <a:rPr lang="en-US" dirty="0">
                <a:latin typeface="ITC Avant Garde Pro Bk" panose="02000503030000020004" pitchFamily="2" charset="77"/>
              </a:rPr>
              <a:t>, the assembly was more continuous: we had fewer contigs, about 4,300, the longest contig was almost 6 Mb, with a slightly higher N50 of around 556 kb, and a total size of 422 Mb.</a:t>
            </a:r>
          </a:p>
          <a:p>
            <a:endParaRPr lang="en-US" dirty="0">
              <a:latin typeface="ITC Avant Garde Pro Bk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5638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515A27-504E-A10A-1D86-AEDC3ADAF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038966"/>
              </p:ext>
            </p:extLst>
          </p:nvPr>
        </p:nvGraphicFramePr>
        <p:xfrm>
          <a:off x="867132" y="2172916"/>
          <a:ext cx="10509251" cy="16423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1046">
                  <a:extLst>
                    <a:ext uri="{9D8B030D-6E8A-4147-A177-3AD203B41FA5}">
                      <a16:colId xmlns:a16="http://schemas.microsoft.com/office/drawing/2014/main" val="1366826783"/>
                    </a:ext>
                  </a:extLst>
                </a:gridCol>
                <a:gridCol w="1940987">
                  <a:extLst>
                    <a:ext uri="{9D8B030D-6E8A-4147-A177-3AD203B41FA5}">
                      <a16:colId xmlns:a16="http://schemas.microsoft.com/office/drawing/2014/main" val="4194720202"/>
                    </a:ext>
                  </a:extLst>
                </a:gridCol>
                <a:gridCol w="1211617">
                  <a:extLst>
                    <a:ext uri="{9D8B030D-6E8A-4147-A177-3AD203B41FA5}">
                      <a16:colId xmlns:a16="http://schemas.microsoft.com/office/drawing/2014/main" val="53922844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16354227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1687809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329274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6570976"/>
                    </a:ext>
                  </a:extLst>
                </a:gridCol>
                <a:gridCol w="1397001">
                  <a:extLst>
                    <a:ext uri="{9D8B030D-6E8A-4147-A177-3AD203B41FA5}">
                      <a16:colId xmlns:a16="http://schemas.microsoft.com/office/drawing/2014/main" val="3362521454"/>
                    </a:ext>
                  </a:extLst>
                </a:gridCol>
              </a:tblGrid>
              <a:tr h="54745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RCM1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Lineage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Single </a:t>
                      </a:r>
                    </a:p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Copy (S)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Duplicates (D)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Fragmented (F)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Inflated (I)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Missing (M)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Total genes searched (N)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03432"/>
                  </a:ext>
                </a:extLst>
              </a:tr>
              <a:tr h="5474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hap1.p_ctg.fa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 err="1">
                          <a:effectLst/>
                          <a:latin typeface="ITC Avant Garde Pro Bk" panose="02000503030000020004" pitchFamily="2" charset="77"/>
                        </a:rPr>
                        <a:t>pucciniomycetes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87.29% (2906)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6.55%(218)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1.32% (44)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>
                          <a:effectLst/>
                          <a:latin typeface="ITC Avant Garde Pro Bk" panose="02000503030000020004" pitchFamily="2" charset="77"/>
                        </a:rPr>
                        <a:t>0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>
                          <a:effectLst/>
                          <a:latin typeface="ITC Avant Garde Pro Bk" panose="02000503030000020004" pitchFamily="2" charset="77"/>
                        </a:rPr>
                        <a:t>4.84% (161)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3,329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401994"/>
                  </a:ext>
                </a:extLst>
              </a:tr>
              <a:tr h="5474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hap2.p_ctg.fa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 err="1">
                          <a:effectLst/>
                          <a:latin typeface="ITC Avant Garde Pro Bk" panose="02000503030000020004" pitchFamily="2" charset="77"/>
                        </a:rPr>
                        <a:t>pucciniomycetes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87.62% (2917)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5.80%(193)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1.44% (48)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0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>
                          <a:effectLst/>
                          <a:latin typeface="ITC Avant Garde Pro Bk" panose="02000503030000020004" pitchFamily="2" charset="77"/>
                        </a:rPr>
                        <a:t>5.14% (171)</a:t>
                      </a:r>
                      <a:endParaRPr lang="en-CO" sz="1400" b="0" i="0" u="none" strike="noStrike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3,329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867547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2440CE3-1643-3EFB-4D30-99008AAB3A35}"/>
              </a:ext>
            </a:extLst>
          </p:cNvPr>
          <p:cNvSpPr/>
          <p:nvPr/>
        </p:nvSpPr>
        <p:spPr>
          <a:xfrm>
            <a:off x="4712418" y="3315333"/>
            <a:ext cx="1228404" cy="456717"/>
          </a:xfrm>
          <a:prstGeom prst="round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61CDDE-58DD-C556-E95C-2226970E0E3D}"/>
              </a:ext>
            </a:extLst>
          </p:cNvPr>
          <p:cNvSpPr/>
          <p:nvPr/>
        </p:nvSpPr>
        <p:spPr>
          <a:xfrm>
            <a:off x="4712418" y="2753267"/>
            <a:ext cx="1210474" cy="456717"/>
          </a:xfrm>
          <a:prstGeom prst="round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96B70-30AB-E806-3484-525D7BED6B3B}"/>
              </a:ext>
            </a:extLst>
          </p:cNvPr>
          <p:cNvSpPr txBox="1"/>
          <p:nvPr/>
        </p:nvSpPr>
        <p:spPr>
          <a:xfrm>
            <a:off x="0" y="33082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Bef>
                <a:spcPts val="600"/>
              </a:spcBef>
              <a:buFont typeface="+mj-lt"/>
              <a:buAutoNum type="arabicPeriod" startAt="3"/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Assembly strategy performed and results.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C95A3-F4E8-B6DE-E7DD-BE55B83B0190}"/>
              </a:ext>
            </a:extLst>
          </p:cNvPr>
          <p:cNvSpPr txBox="1"/>
          <p:nvPr/>
        </p:nvSpPr>
        <p:spPr>
          <a:xfrm>
            <a:off x="0" y="869855"/>
            <a:ext cx="12192000" cy="36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800"/>
              <a:defRPr/>
            </a:pPr>
            <a:r>
              <a:rPr lang="en-AU" sz="1600" dirty="0">
                <a:solidFill>
                  <a:srgbClr val="7030A0"/>
                </a:solidFill>
                <a:latin typeface="ITC Avant Garde Pro Bk" panose="02000503030000020004" pitchFamily="2" charset="77"/>
                <a:ea typeface="+mj-ea"/>
                <a:cs typeface="Arial Narrow" panose="020B0604020202020204" pitchFamily="34" charset="0"/>
                <a:sym typeface="Questrial"/>
              </a:rPr>
              <a:t>Assembly results Brown Rust (M1) after removed contamination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0925A-F89F-1F59-4C78-8F857A6D8793}"/>
              </a:ext>
            </a:extLst>
          </p:cNvPr>
          <p:cNvSpPr txBox="1"/>
          <p:nvPr/>
        </p:nvSpPr>
        <p:spPr>
          <a:xfrm>
            <a:off x="833906" y="4065259"/>
            <a:ext cx="10370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TC Avant Garde Pro Bk" panose="02000503030000020004" pitchFamily="2" charset="77"/>
              </a:rPr>
              <a:t>This analysis checks how many conserved genes expected for </a:t>
            </a:r>
            <a:r>
              <a:rPr lang="en-US" i="1" dirty="0" err="1">
                <a:latin typeface="ITC Avant Garde Pro Bk" panose="02000503030000020004" pitchFamily="2" charset="77"/>
              </a:rPr>
              <a:t>Pucciniomycetes</a:t>
            </a:r>
            <a:r>
              <a:rPr lang="en-US" dirty="0">
                <a:latin typeface="ITC Avant Garde Pro Bk" panose="02000503030000020004" pitchFamily="2" charset="77"/>
              </a:rPr>
              <a:t> are present in our assemblies.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8FE1A-FEE3-0B8D-E401-230DBC1CF3CE}"/>
              </a:ext>
            </a:extLst>
          </p:cNvPr>
          <p:cNvSpPr txBox="1"/>
          <p:nvPr/>
        </p:nvSpPr>
        <p:spPr>
          <a:xfrm>
            <a:off x="795271" y="1676331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TC Avant Garde Pro Bk" panose="02000503030000020004" pitchFamily="2" charset="77"/>
              </a:rPr>
              <a:t>We assessed completeness using BUSCO.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5C3C3-8ED6-2968-FC5A-E6E71AE4DB4F}"/>
              </a:ext>
            </a:extLst>
          </p:cNvPr>
          <p:cNvSpPr txBox="1"/>
          <p:nvPr/>
        </p:nvSpPr>
        <p:spPr>
          <a:xfrm>
            <a:off x="813783" y="4008598"/>
            <a:ext cx="107957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ITC Avant Garde Pro Bk" panose="02000503030000020004" pitchFamily="2" charset="77"/>
              </a:rPr>
              <a:t>Each haplotype assembly recovered around 87% of single-copy genes, showing that most essential genes are there.</a:t>
            </a:r>
          </a:p>
          <a:p>
            <a:endParaRPr lang="en-AU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ITC Avant Garde Pro Bk" panose="02000503030000020004" pitchFamily="2" charset="77"/>
              </a:rPr>
              <a:t>We also saw some duplicated genes, likely due to heterozygosity.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ITC Avant Garde Pro Bk" panose="02000503030000020004" pitchFamily="2" charset="77"/>
              </a:rPr>
              <a:t>The percentage of missing genes was small, close to 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ITC Avant Garde Pro Bk" panose="02000503030000020004" pitchFamily="2" charset="77"/>
              </a:rPr>
              <a:t>Overall, this means both haplotypes are well represented.</a:t>
            </a:r>
          </a:p>
          <a:p>
            <a:endParaRPr lang="en-AU" dirty="0">
              <a:latin typeface="ITC Avant Garde Pro Bk" panose="02000503030000020004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6284C0-0A31-0AB9-E02C-53405F10F5BB}"/>
              </a:ext>
            </a:extLst>
          </p:cNvPr>
          <p:cNvSpPr/>
          <p:nvPr/>
        </p:nvSpPr>
        <p:spPr>
          <a:xfrm>
            <a:off x="8950122" y="3334998"/>
            <a:ext cx="1228404" cy="456717"/>
          </a:xfrm>
          <a:prstGeom prst="round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F77323-D854-24B5-E5F1-05AD35A2B494}"/>
              </a:ext>
            </a:extLst>
          </p:cNvPr>
          <p:cNvSpPr/>
          <p:nvPr/>
        </p:nvSpPr>
        <p:spPr>
          <a:xfrm>
            <a:off x="8955038" y="2794224"/>
            <a:ext cx="1228404" cy="456717"/>
          </a:xfrm>
          <a:prstGeom prst="round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94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D840D-C281-E2F8-26F2-FB1ABCE79C2A}"/>
              </a:ext>
            </a:extLst>
          </p:cNvPr>
          <p:cNvSpPr txBox="1"/>
          <p:nvPr/>
        </p:nvSpPr>
        <p:spPr>
          <a:xfrm>
            <a:off x="0" y="33082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spcBef>
                <a:spcPts val="600"/>
              </a:spcBef>
              <a:buFont typeface="+mj-lt"/>
              <a:buAutoNum type="arabicPeriod" startAt="3"/>
            </a:pPr>
            <a:r>
              <a:rPr lang="en-US" sz="2800" dirty="0">
                <a:solidFill>
                  <a:srgbClr val="7030A0"/>
                </a:solidFill>
                <a:latin typeface="ITC Avant Garde Pro Md" panose="02000607030000020004" pitchFamily="2" charset="77"/>
                <a:ea typeface="+mj-ea"/>
                <a:cs typeface="Arial Narrow" panose="020B0604020202020204" pitchFamily="34" charset="0"/>
              </a:rPr>
              <a:t>Assembly strategy performed and results.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F5A9C-B0A7-85D7-C4D2-14D78ACB91F0}"/>
              </a:ext>
            </a:extLst>
          </p:cNvPr>
          <p:cNvSpPr txBox="1"/>
          <p:nvPr/>
        </p:nvSpPr>
        <p:spPr>
          <a:xfrm>
            <a:off x="0" y="869855"/>
            <a:ext cx="12192000" cy="36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800"/>
              <a:defRPr/>
            </a:pPr>
            <a:r>
              <a:rPr lang="en-AU" sz="1600" dirty="0">
                <a:solidFill>
                  <a:srgbClr val="7030A0"/>
                </a:solidFill>
                <a:latin typeface="ITC Avant Garde Pro Bk" panose="02000503030000020004" pitchFamily="2" charset="77"/>
                <a:ea typeface="+mj-ea"/>
                <a:cs typeface="Arial Narrow" panose="020B0604020202020204" pitchFamily="34" charset="0"/>
                <a:sym typeface="Questrial"/>
              </a:rPr>
              <a:t>Assembly results Orange Rust (M1)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A53A6A-8066-DF44-3F6E-0A1E169D4A20}"/>
              </a:ext>
            </a:extLst>
          </p:cNvPr>
          <p:cNvSpPr txBox="1"/>
          <p:nvPr/>
        </p:nvSpPr>
        <p:spPr>
          <a:xfrm>
            <a:off x="730876" y="1714967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TC Avant Garde Pro Bk" panose="02000503030000020004" pitchFamily="2" charset="77"/>
              </a:rPr>
              <a:t>We assessed completeness using BUSCO.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2D9C-A2E9-0B31-8D6F-99FD8383134C}"/>
              </a:ext>
            </a:extLst>
          </p:cNvPr>
          <p:cNvSpPr txBox="1"/>
          <p:nvPr/>
        </p:nvSpPr>
        <p:spPr>
          <a:xfrm>
            <a:off x="737772" y="3996030"/>
            <a:ext cx="10795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ITC Avant Garde Pro Bk" panose="02000503030000020004" pitchFamily="2" charset="77"/>
              </a:rPr>
              <a:t>Tis haplotype assembly recovered around 90% of single-copy genes, showing that most essential genes are there.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ITC Avant Garde Pro Bk" panose="02000503030000020004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ITC Avant Garde Pro Bk" panose="02000503030000020004" pitchFamily="2" charset="77"/>
              </a:rPr>
              <a:t>Similar to Brown rust: Overall, this means this </a:t>
            </a:r>
            <a:r>
              <a:rPr lang="en-AU">
                <a:latin typeface="ITC Avant Garde Pro Bk" panose="02000503030000020004" pitchFamily="2" charset="77"/>
              </a:rPr>
              <a:t>haplotypes is </a:t>
            </a:r>
            <a:r>
              <a:rPr lang="en-AU" dirty="0">
                <a:latin typeface="ITC Avant Garde Pro Bk" panose="02000503030000020004" pitchFamily="2" charset="77"/>
              </a:rPr>
              <a:t>well represented.</a:t>
            </a:r>
          </a:p>
          <a:p>
            <a:endParaRPr lang="en-AU" dirty="0">
              <a:latin typeface="ITC Avant Garde Pro Bk" panose="02000503030000020004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E6F700-1996-FC8C-11F8-17FE25D7C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989481"/>
              </p:ext>
            </p:extLst>
          </p:nvPr>
        </p:nvGraphicFramePr>
        <p:xfrm>
          <a:off x="705450" y="2214477"/>
          <a:ext cx="10509251" cy="11254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12616">
                  <a:extLst>
                    <a:ext uri="{9D8B030D-6E8A-4147-A177-3AD203B41FA5}">
                      <a16:colId xmlns:a16="http://schemas.microsoft.com/office/drawing/2014/main" val="1366826783"/>
                    </a:ext>
                  </a:extLst>
                </a:gridCol>
                <a:gridCol w="1851103">
                  <a:extLst>
                    <a:ext uri="{9D8B030D-6E8A-4147-A177-3AD203B41FA5}">
                      <a16:colId xmlns:a16="http://schemas.microsoft.com/office/drawing/2014/main" val="4194720202"/>
                    </a:ext>
                  </a:extLst>
                </a:gridCol>
                <a:gridCol w="1409931">
                  <a:extLst>
                    <a:ext uri="{9D8B030D-6E8A-4147-A177-3AD203B41FA5}">
                      <a16:colId xmlns:a16="http://schemas.microsoft.com/office/drawing/2014/main" val="53922844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16354227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1687809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1329274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6570976"/>
                    </a:ext>
                  </a:extLst>
                </a:gridCol>
                <a:gridCol w="1397001">
                  <a:extLst>
                    <a:ext uri="{9D8B030D-6E8A-4147-A177-3AD203B41FA5}">
                      <a16:colId xmlns:a16="http://schemas.microsoft.com/office/drawing/2014/main" val="3362521454"/>
                    </a:ext>
                  </a:extLst>
                </a:gridCol>
              </a:tblGrid>
              <a:tr h="56271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RNM2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Lineage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Single </a:t>
                      </a:r>
                    </a:p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Copy (S)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Duplicates (D)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Fragmented (F)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Inflated (I)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Missing (M)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Total genes searched (N)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03432"/>
                  </a:ext>
                </a:extLst>
              </a:tr>
              <a:tr h="56271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hap2.p_ctg.fa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 err="1">
                          <a:effectLst/>
                          <a:latin typeface="ITC Avant Garde Pro Bk" panose="02000503030000020004" pitchFamily="2" charset="77"/>
                        </a:rPr>
                        <a:t>pucciniomycetes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90.63 % (3017)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2.46% (82)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1.53% (179)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0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5.38% (179)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O" sz="1400" b="0" i="0" u="none" strike="noStrike" dirty="0">
                          <a:effectLst/>
                          <a:latin typeface="ITC Avant Garde Pro Bk" panose="02000503030000020004" pitchFamily="2" charset="77"/>
                        </a:rPr>
                        <a:t>3,329</a:t>
                      </a:r>
                      <a:endParaRPr lang="en-CO" sz="1400" b="0" i="0" u="none" strike="noStrike" dirty="0">
                        <a:solidFill>
                          <a:srgbClr val="000000"/>
                        </a:solidFill>
                        <a:effectLst/>
                        <a:latin typeface="ITC Avant Garde Pro Bk" panose="02000503030000020004" pitchFamily="2" charset="7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867547"/>
                  </a:ext>
                </a:extLst>
              </a:tr>
            </a:tbl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2BEEDF-B310-896F-C93D-B70DAF37EB25}"/>
              </a:ext>
            </a:extLst>
          </p:cNvPr>
          <p:cNvSpPr/>
          <p:nvPr/>
        </p:nvSpPr>
        <p:spPr>
          <a:xfrm>
            <a:off x="4477640" y="2852121"/>
            <a:ext cx="1210474" cy="456717"/>
          </a:xfrm>
          <a:prstGeom prst="roundRect">
            <a:avLst/>
          </a:prstGeom>
          <a:solidFill>
            <a:srgbClr val="FFC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43410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9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9493</TotalTime>
  <Words>1207</Words>
  <Application>Microsoft Macintosh PowerPoint</Application>
  <PresentationFormat>Widescreen</PresentationFormat>
  <Paragraphs>193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Arial</vt:lpstr>
      <vt:lpstr>Calibri</vt:lpstr>
      <vt:lpstr>Calibri Light</vt:lpstr>
      <vt:lpstr>ITC Avant Garde Pro Bk</vt:lpstr>
      <vt:lpstr>ITC Avant Garde Pro Md</vt:lpstr>
      <vt:lpstr>system-ui</vt:lpstr>
      <vt:lpstr>Diseño personalizado</vt:lpstr>
      <vt:lpstr>4_Diseño personalizado</vt:lpstr>
      <vt:lpstr>Custom Design</vt:lpstr>
      <vt:lpstr>13_Diseño personalizado</vt:lpstr>
      <vt:lpstr>14_Diseño personalizado</vt:lpstr>
      <vt:lpstr>1_Diseño personalizado</vt:lpstr>
      <vt:lpstr>3_Diseño personalizado</vt:lpstr>
      <vt:lpstr>9_Diseño personalizado</vt:lpstr>
      <vt:lpstr>17_Diseño personalizado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Cenicaña Office</cp:lastModifiedBy>
  <cp:revision>490</cp:revision>
  <dcterms:created xsi:type="dcterms:W3CDTF">2025-02-17T14:33:54Z</dcterms:created>
  <dcterms:modified xsi:type="dcterms:W3CDTF">2026-10-06T18:13:16Z</dcterms:modified>
</cp:coreProperties>
</file>